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737360"/>
            <a:ext cx="4572000" cy="4572000"/>
          </a:xfrm>
          <a:prstGeom prst="ellipse">
            <a:avLst/>
          </a:prstGeom>
          <a:solidFill>
            <a:srgbClr val="12A5A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566160"/>
            <a:ext cx="3291840" cy="3291840"/>
          </a:xfrm>
          <a:prstGeom prst="ellipse">
            <a:avLst/>
          </a:prstGeom>
          <a:solidFill>
            <a:srgbClr val="2E6BA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3108960"/>
            <a:ext cx="1371600" cy="1371600"/>
          </a:xfrm>
          <a:prstGeom prst="ellipse">
            <a:avLst/>
          </a:prstGeom>
          <a:solidFill>
            <a:srgbClr val="3DD6D0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9326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2A5A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04241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00584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 · MEDIA OVER QUIC (MOQ) · INTERNET-DRAFT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1417320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Conditional Range Filters for Media over QUIC Transport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D6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draft-yuyou-conditional-filtering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3246120"/>
            <a:ext cx="82296" cy="868680"/>
          </a:xfrm>
          <a:prstGeom prst="rect">
            <a:avLst/>
          </a:prstGeom>
          <a:solidFill>
            <a:srgbClr val="12A5A0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246120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You · Serhan Gül · Ali C. Begen · ANM Zaheduzzaman Sarker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· Networked Media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4526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Relay-side, adaptive intra-track filtering for MOQT subscriptions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2A5A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62636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1945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51560" y="4754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Problem: Static Range Filters Need Slow Closed-Loop Adaptation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397764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38988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4A7E"/>
                </a:solidFill>
              </a:rPr>
              <a:t>TODAY — CLOSED-LOOP ADAPTATION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31520" y="1801368"/>
            <a:ext cx="310896" cy="310896"/>
          </a:xfrm>
          <a:prstGeom prst="ellipse">
            <a:avLst/>
          </a:prstGeom>
          <a:solidFill>
            <a:srgbClr val="12A5A0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815084"/>
            <a:ext cx="3108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8" dirty="0"/>
          </a:p>
        </p:txBody>
      </p:sp>
      <p:sp>
        <p:nvSpPr>
          <p:cNvPr id="10" name="Text 7"/>
          <p:cNvSpPr/>
          <p:nvPr/>
        </p:nvSpPr>
        <p:spPr>
          <a:xfrm>
            <a:off x="1188720" y="175564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drop detected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observes congestion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2496312"/>
            <a:ext cx="310896" cy="310896"/>
          </a:xfrm>
          <a:prstGeom prst="ellipse">
            <a:avLst/>
          </a:prstGeom>
          <a:solidFill>
            <a:srgbClr val="12A5A0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510028"/>
            <a:ext cx="3108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8" dirty="0"/>
          </a:p>
        </p:txBody>
      </p:sp>
      <p:sp>
        <p:nvSpPr>
          <p:cNvPr id="13" name="Text 10"/>
          <p:cNvSpPr/>
          <p:nvPr/>
        </p:nvSpPr>
        <p:spPr>
          <a:xfrm>
            <a:off x="1188720" y="2450592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computes new filter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enhancement subgroup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" y="3191256"/>
            <a:ext cx="310896" cy="310896"/>
          </a:xfrm>
          <a:prstGeom prst="ellipse">
            <a:avLst/>
          </a:prstGeom>
          <a:solidFill>
            <a:srgbClr val="12A5A0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3204972"/>
            <a:ext cx="3108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8" dirty="0"/>
          </a:p>
        </p:txBody>
      </p:sp>
      <p:sp>
        <p:nvSpPr>
          <p:cNvPr id="16" name="Text 13"/>
          <p:cNvSpPr/>
          <p:nvPr/>
        </p:nvSpPr>
        <p:spPr>
          <a:xfrm>
            <a:off x="1188720" y="3145536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REQUEST_UPDATE sent to relay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message round-trip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3886200"/>
            <a:ext cx="310896" cy="310896"/>
          </a:xfrm>
          <a:prstGeom prst="ellipse">
            <a:avLst/>
          </a:prstGeom>
          <a:solidFill>
            <a:srgbClr val="12A5A0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3899916"/>
            <a:ext cx="3108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88" dirty="0"/>
          </a:p>
        </p:txBody>
      </p:sp>
      <p:sp>
        <p:nvSpPr>
          <p:cNvPr id="19" name="Text 16"/>
          <p:cNvSpPr/>
          <p:nvPr/>
        </p:nvSpPr>
        <p:spPr>
          <a:xfrm>
            <a:off x="1188720" y="3840480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applies new filter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delayed / queue builds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1234440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19472" y="1490472"/>
            <a:ext cx="493776" cy="493776"/>
          </a:xfrm>
          <a:prstGeom prst="ellipse">
            <a:avLst/>
          </a:prstGeom>
          <a:solidFill>
            <a:srgbClr val="F2A33C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581912"/>
            <a:ext cx="310896" cy="31089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77840" y="1399032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delay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happens at RTT scale, not network scale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709160" y="2368296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919472" y="2624328"/>
            <a:ext cx="493776" cy="493776"/>
          </a:xfrm>
          <a:prstGeom prst="ellipse">
            <a:avLst/>
          </a:prstGeom>
          <a:solidFill>
            <a:srgbClr val="E4573D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2715768"/>
            <a:ext cx="310896" cy="31089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577840" y="2532888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Overdelivery &amp; queue build-up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filters keep forwarding unwanted objects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4709160" y="3502152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919472" y="3758184"/>
            <a:ext cx="493776" cy="493776"/>
          </a:xfrm>
          <a:prstGeom prst="ellipse">
            <a:avLst/>
          </a:prstGeom>
          <a:solidFill>
            <a:srgbClr val="12A5A0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849624"/>
            <a:ext cx="310896" cy="31089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577840" y="3666744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Signaling complexity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adaptation step needs explicit control traffic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5029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draft-yuyou-conditional-filtering · MOQ · IETF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7818120" y="488289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2A5A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62636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1945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51560" y="4754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Bind Conditions to SetIDs — Let the Relay Decide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8138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37160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Group boundary, the relay evaluates every conditional SetID: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1783080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83794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SetID 0</a:t>
            </a:r>
            <a:endParaRPr lang="en-US" sz="10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layer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23160" y="1783080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F4F7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96312" y="183794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SetID 1</a:t>
            </a:r>
            <a:endParaRPr lang="en-US" sz="10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 layer 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14800" y="1783080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F4F7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87952" y="183794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SetID 2</a:t>
            </a:r>
            <a:endParaRPr lang="en-US" sz="10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 layer 2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938528"/>
            <a:ext cx="365760" cy="3657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400800" y="169164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1C4A7E"/>
          </a:solidFill>
          <a:ln/>
        </p:spPr>
      </p:sp>
      <p:sp>
        <p:nvSpPr>
          <p:cNvPr id="16" name="Text 12"/>
          <p:cNvSpPr/>
          <p:nvPr/>
        </p:nvSpPr>
        <p:spPr>
          <a:xfrm>
            <a:off x="6400800" y="181051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3D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2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met?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400800" y="24871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 OR expression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85800" y="3191256"/>
            <a:ext cx="274320" cy="274320"/>
          </a:xfrm>
          <a:prstGeom prst="ellipse">
            <a:avLst/>
          </a:prstGeom>
          <a:solidFill>
            <a:srgbClr val="12A5A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36976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315468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Pre-authorized conditions  </a:t>
            </a:r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Subscriber declares thresholds &amp; priorities once — no further signaling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85800" y="3758184"/>
            <a:ext cx="274320" cy="274320"/>
          </a:xfrm>
          <a:prstGeom prst="ellipse">
            <a:avLst/>
          </a:prstGeom>
          <a:solidFill>
            <a:srgbClr val="12A5A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03904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43000" y="3721608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at switching points  </a:t>
            </a:r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Group boundaries; B_total from QUIC congestion state (pacing rate, cwnd, SRTT)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85800" y="4325112"/>
            <a:ext cx="274320" cy="274320"/>
          </a:xfrm>
          <a:prstGeom prst="ellipse">
            <a:avLst/>
          </a:prstGeom>
          <a:solidFill>
            <a:srgbClr val="12A5A0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370832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43000" y="4288536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in control messages  </a:t>
            </a:r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SUBSCRIBE · PUBLISH_OK · REQUEST_UPDATE — multiple SetIDs per message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029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draft-yuyou-conditional-filtering · MOQ · IETF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7818120" y="488289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2A5A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62636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1945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51560" y="4754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RANGE_FILTER_CONDITION — Wire Format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02920" y="1280160"/>
            <a:ext cx="3931920" cy="2377440"/>
          </a:xfrm>
          <a:prstGeom prst="rect">
            <a:avLst/>
          </a:prstGeom>
          <a:solidFill>
            <a:srgbClr val="EAF0F7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37160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RANGE_FILTER_CONDITION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ID (8),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Algorithm ID (vi64),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Throughput threshold (vi64),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throughput fraction (vi64),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Activate switching (vi64),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rank (8)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3749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Message Parameter · MAY repeat, one per SetID · same SetID once per message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80160"/>
          <a:ext cx="39776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2860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ID (8)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Binds to a Range Filter SetID in the same message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 ID (vi64)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algorithm; 0 defined here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 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estimated BW (kbps) to stay 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throughput fraction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weight 1–10 for allocation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Activate switching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off; N = activate after N entries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rank (8)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Degradation priority 1–255 (default 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draft-yuyou-conditional-filtering · MOQ · IETF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818120" y="488289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2A5A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62636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1945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51560" y="4754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OR-Preserving Admission — Semantics Stay Intact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39776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3716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2A5A0"/>
                </a:solidFill>
              </a:rPr>
              <a:t>WHAT CHANGES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1691640"/>
            <a:ext cx="3520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whether a SetID participates in the OR expression at each switching point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SetIDs are admitted or deactivated as OR terms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Unconditional and conditional SetIDs coexist naturally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234440"/>
            <a:ext cx="39319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37760" y="13716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4A7E"/>
                </a:solidFill>
              </a:rPr>
              <a:t>WHAT STAYS THE SAME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937760" y="1691640"/>
            <a:ext cx="3520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within a SetID: filters in the same group all apply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across SetIDs: any active group delivers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MOQT Range Filter processing unchanged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370332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8587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Subgroup 0-0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286000" y="38587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OBJECTID ∈ [a,b]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297680" y="3858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SetID 0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3877056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32120" y="38587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87705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38587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if any active SetID matches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029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draft-yuyou-conditional-filtering · MOQ · IETF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7818120" y="488289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2A5A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62636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1945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51560" y="4754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0: Throughput-Based Conditional Admission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338328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37160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4A7E"/>
                </a:solidFill>
              </a:rPr>
              <a:t>RELAY STATE PER SUBSCRIPTION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17190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B_total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057400" y="171907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downstream bandwidth (QUIC pacing / cwnd / SRTT)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20848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sum_F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057400" y="208483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fractions across conditional SetIDs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31520" y="24505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set.threshold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057400" y="24505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kbps to keep SetID active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31520" y="28163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set.fraction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05740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allocation weight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31520" y="31821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set.rank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057400" y="31821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priority (lower = protected)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31520" y="3547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active_set_ids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057400" y="354787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SetIDs admitted into the OR expression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14800" y="1234440"/>
            <a:ext cx="4526280" cy="2743200"/>
          </a:xfrm>
          <a:prstGeom prst="rect">
            <a:avLst/>
          </a:prstGeom>
          <a:solidFill>
            <a:srgbClr val="EAF0F7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51960" y="1325880"/>
            <a:ext cx="4251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active_set_ids = {}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reserved_bw =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B_available = B_total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set in ascending rank order: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set.target = B_total x fraction / sum_F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B_available = max(0, B_total - reserved_bw)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threshold &lt;= min(target, B_available):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active_set_ids += set.id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reserved_bw += threshold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admission: </a:t>
            </a:r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higher-priority SetIDs are admitted first; lower-priority SetIDs absorb bandwidth shortfall by being deactivated.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029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draft-yuyou-conditional-filtering · MOQ · IETF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818120" y="488289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2A5A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62636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1945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51560" y="4754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Scalable Video with Three Layers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12070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Subgroups: base (0) · enhancement 1 (1) · enhancement 2 (2) — SetID 0 is unconditional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81381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1371600"/>
                <a:gridCol w="731520"/>
                <a:gridCol w="73152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Subgroup 0-0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· unconditional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Subgroup 1-1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kbps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 1 · conditional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Subgroup 2-2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2500 kbps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 2 · conditional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312724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switching = 2 → admission starts when both conditions are registered · sum_F = 6 + 4 = 10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02920" y="3456432"/>
            <a:ext cx="2615184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02920" y="3456432"/>
            <a:ext cx="82296" cy="1298448"/>
          </a:xfrm>
          <a:prstGeom prst="rect">
            <a:avLst/>
          </a:prstGeom>
          <a:solidFill>
            <a:srgbClr val="12A5A0"/>
          </a:solidFill>
          <a:ln/>
        </p:spPr>
      </p:sp>
      <p:sp>
        <p:nvSpPr>
          <p:cNvPr id="11" name="Text 7"/>
          <p:cNvSpPr/>
          <p:nvPr/>
        </p:nvSpPr>
        <p:spPr>
          <a:xfrm>
            <a:off x="68580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B_total = 7000 kbps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85800" y="38221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SetID 1: 7000×6/10 = 4200 ≥ 2000 ✓ · SetID 2: 7000×4/10 = 2800 ≥ 2500 ✓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8580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Subgroups 0 + 1 + 2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64408" y="3456432"/>
            <a:ext cx="2615184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64408" y="3456432"/>
            <a:ext cx="82296" cy="1298448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16" name="Text 12"/>
          <p:cNvSpPr/>
          <p:nvPr/>
        </p:nvSpPr>
        <p:spPr>
          <a:xfrm>
            <a:off x="3447288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B_total = 4000 kbps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47288" y="38221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SetID 1: 4000×6/10 = 2400 ≥ 2000 ✓ · SetID 2: 4000×4/10 = 1600 &lt; 2500 ✗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447288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Subgroups 0 + 1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025896" y="3456432"/>
            <a:ext cx="2615184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25896" y="3456432"/>
            <a:ext cx="82296" cy="1298448"/>
          </a:xfrm>
          <a:prstGeom prst="rect">
            <a:avLst/>
          </a:prstGeom>
          <a:solidFill>
            <a:srgbClr val="E4573D"/>
          </a:solidFill>
          <a:ln/>
        </p:spPr>
      </p:sp>
      <p:sp>
        <p:nvSpPr>
          <p:cNvPr id="21" name="Text 17"/>
          <p:cNvSpPr/>
          <p:nvPr/>
        </p:nvSpPr>
        <p:spPr>
          <a:xfrm>
            <a:off x="6208776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B_total = 1500 kbps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208776" y="38221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conditional SetID satisfies its threshold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208776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5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0 only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029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draft-yuyou-conditional-filtering · MOQ · IETF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818120" y="488289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2A5A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62636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1945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FLOW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51560" y="4754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Typical SUBSCRIBE Workflow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17830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12A5A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048256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SUBSCRIBE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40080" y="2487168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Range Filters + RANGE_FILTER_CONDITION entries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432" y="2057400"/>
            <a:ext cx="219456" cy="21945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560320" y="1325880"/>
            <a:ext cx="17830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2697480" y="1508760"/>
            <a:ext cx="457200" cy="457200"/>
          </a:xfrm>
          <a:prstGeom prst="ellipse">
            <a:avLst/>
          </a:prstGeom>
          <a:solidFill>
            <a:srgbClr val="12A5A0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160020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697480" y="2048256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SUBSCRIBE_OK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2697480" y="2487168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confirms subscription</a:t>
            </a:r>
            <a:endParaRPr lang="en-US" sz="9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2057400"/>
            <a:ext cx="219456" cy="219456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617720" y="1325880"/>
            <a:ext cx="17830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754880" y="1508760"/>
            <a:ext cx="457200" cy="457200"/>
          </a:xfrm>
          <a:prstGeom prst="ellipse">
            <a:avLst/>
          </a:prstGeom>
          <a:solidFill>
            <a:srgbClr val="12A5A0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600200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754880" y="2048256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4754880" y="2487168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B_total · compare thresholds · admit SetIDs</a:t>
            </a:r>
            <a:endParaRPr lang="en-US" sz="9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2057400"/>
            <a:ext cx="219456" cy="219456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6675120" y="1325880"/>
            <a:ext cx="17830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6812280" y="1508760"/>
            <a:ext cx="457200" cy="457200"/>
          </a:xfrm>
          <a:prstGeom prst="ellipse">
            <a:avLst/>
          </a:prstGeom>
          <a:solidFill>
            <a:srgbClr val="12A5A0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1600200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812280" y="2048256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 &amp; re-evaluate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6812280" y="2487168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for active SetIDs; re-run at each Group boundary</a:t>
            </a:r>
            <a:endParaRPr lang="en-US" sz="950" dirty="0"/>
          </a:p>
        </p:txBody>
      </p:sp>
      <p:sp>
        <p:nvSpPr>
          <p:cNvPr id="29" name="Shape 19"/>
          <p:cNvSpPr/>
          <p:nvPr/>
        </p:nvSpPr>
        <p:spPr>
          <a:xfrm>
            <a:off x="502920" y="3337560"/>
            <a:ext cx="81381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731520" y="3520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PRIOR_SUBGROUP_ID_GAP = 1</a:t>
            </a:r>
            <a:endParaRPr lang="en-US" sz="1200" dirty="0"/>
          </a:p>
        </p:txBody>
      </p:sp>
      <p:sp>
        <p:nvSpPr>
          <p:cNvPr id="31" name="Text 21"/>
          <p:cNvSpPr/>
          <p:nvPr/>
        </p:nvSpPr>
        <p:spPr>
          <a:xfrm>
            <a:off x="731520" y="38404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subgroup is skipped, the relay marks intentional omission on the first Object of the next subgroup —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subscribers can distinguish conditional filtering from network loss.</a:t>
            </a:r>
            <a:endParaRPr lang="en-US" sz="1150" dirty="0"/>
          </a:p>
        </p:txBody>
      </p:sp>
      <p:sp>
        <p:nvSpPr>
          <p:cNvPr id="32" name="Text 22"/>
          <p:cNvSpPr/>
          <p:nvPr/>
        </p:nvSpPr>
        <p:spPr>
          <a:xfrm>
            <a:off x="5029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draft-yuyou-conditional-filtering · MOQ · IETF</a:t>
            </a:r>
            <a:endParaRPr lang="en-US" sz="800" dirty="0"/>
          </a:p>
        </p:txBody>
      </p:sp>
      <p:sp>
        <p:nvSpPr>
          <p:cNvPr id="33" name="Text 23"/>
          <p:cNvSpPr/>
          <p:nvPr/>
        </p:nvSpPr>
        <p:spPr>
          <a:xfrm>
            <a:off x="7818120" y="488289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2A5A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62636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1945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FLOW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51560" y="4754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Publisher-Initiated Workflows (SUBSCRIBE_TRACKS / PUBLISH_OK)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8138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353312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4A7E"/>
                </a:solidFill>
              </a:rPr>
              <a:t>A · SUBSCRIBE_TRACKS with optional filters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16916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SUBSCRIBE_TRACKS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1975104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Namespace Prefix (+ optional Range/Conditional filters)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448" y="178308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51760" y="16916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matching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2651760" y="1975104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/ publisher matches authorized tracks</a:t>
            </a:r>
            <a:endParaRPr lang="en-US" sz="9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78308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0" y="16916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per track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4572000" y="1975104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stream per matched track</a:t>
            </a:r>
            <a:endParaRPr lang="en-US" sz="9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78308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92240" y="16916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PUBLISH_OK / REQUEST_OK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6492240" y="1975104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accepts each stream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2920" y="2788920"/>
            <a:ext cx="8138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731520" y="2907792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2A5A0"/>
                </a:solidFill>
              </a:rPr>
              <a:t>B · Conditions returned in PUBLISH_OK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731520" y="32461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SUBSCRIBE_TRACKS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731520" y="3529584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Prefix only — no filter parameters</a:t>
            </a:r>
            <a:endParaRPr lang="en-US" sz="9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1448" y="3337560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651760" y="32461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(Track A)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2651760" y="3529584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initiates stream</a:t>
            </a:r>
            <a:endParaRPr lang="en-US" sz="9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1688" y="3337560"/>
            <a:ext cx="182880" cy="1828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572000" y="32461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PUBLISH_OK + RFC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4572000" y="3529584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returns RANGE_FILTER_CONDITION</a:t>
            </a:r>
            <a:endParaRPr lang="en-US" sz="9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3337560"/>
            <a:ext cx="182880" cy="1828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492240" y="32461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&amp; forward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6492240" y="3529584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applies returned conditions per track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502920" y="459028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Per-track activation: each accepted stream gets its own condition set, applied before forwarding.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5029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draft-yuyou-conditional-filtering · MOQ · IETF</a:t>
            </a:r>
            <a:endParaRPr lang="en-US" sz="800" dirty="0"/>
          </a:p>
        </p:txBody>
      </p:sp>
      <p:sp>
        <p:nvSpPr>
          <p:cNvPr id="34" name="Text 25"/>
          <p:cNvSpPr/>
          <p:nvPr/>
        </p:nvSpPr>
        <p:spPr>
          <a:xfrm>
            <a:off x="7818120" y="488289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2A5A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62636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1945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51560" y="4754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Standalone Parameter (Not Embedded in Filters)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02920" y="1280160"/>
            <a:ext cx="81381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527048"/>
            <a:ext cx="493776" cy="493776"/>
          </a:xfrm>
          <a:prstGeom prst="ellipse">
            <a:avLst/>
          </a:prstGeom>
          <a:solidFill>
            <a:srgbClr val="12A5A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6184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40817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SetID is a grouping mechanism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611880" y="1408176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SetID groups AND-combined filters; condition applies to the whole group, not one filter. Embedding would duplicate fields or create ambiguity.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02920" y="2414016"/>
            <a:ext cx="81381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13232" y="2660904"/>
            <a:ext cx="493776" cy="493776"/>
          </a:xfrm>
          <a:prstGeom prst="ellipse">
            <a:avLst/>
          </a:prstGeom>
          <a:solidFill>
            <a:srgbClr val="12A5A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75234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25420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Raising the change bar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611880" y="2542032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SUBGROUP_FILTER &amp; co. are registered in the MOQT base spec (15.7). A new parameter is a purely additive change — no base spec edit.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02920" y="3547872"/>
            <a:ext cx="81381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13232" y="3794760"/>
            <a:ext cx="493776" cy="493776"/>
          </a:xfrm>
          <a:prstGeom prst="ellipse">
            <a:avLst/>
          </a:prstGeom>
          <a:solidFill>
            <a:srgbClr val="12A5A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886200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36758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Separation of concerns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3611880" y="3675888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pick content (selection criterion); the condition decides activation under network state. Future algorithms need no filter-format changes.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029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draft-yuyou-conditional-filtering · MOQ · IETF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7818120" y="488289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2A5A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62636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1945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51560" y="4754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Reference-Based Design: CONDITIONAL-SET-ASSIGNMENT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1234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4A7E"/>
                </a:solidFill>
              </a:rPr>
              <a:t>INLINE (this draft's primary)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02920" y="1536192"/>
            <a:ext cx="3931920" cy="1783080"/>
          </a:xfrm>
          <a:prstGeom prst="rect">
            <a:avLst/>
          </a:prstGeom>
          <a:solidFill>
            <a:srgbClr val="EAF0F7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627632"/>
            <a:ext cx="3657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RANGE_FILTER_CONDITION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ID (8),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Algorithm ID (vi64),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Throughput threshold (vi64),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throughput fraction (vi64),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Activate switching (vi64),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rank (8)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2920" y="34015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Self-contained; duplicates SSTS algorithm fields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709160" y="1234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2A5A0"/>
                </a:solidFill>
              </a:rPr>
              <a:t>REFERENCE-BASED (recommended with SSTS)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536192"/>
            <a:ext cx="3931920" cy="1783080"/>
          </a:xfrm>
          <a:prstGeom prst="rect">
            <a:avLst/>
          </a:prstGeom>
          <a:solidFill>
            <a:srgbClr val="EAF0F7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627632"/>
            <a:ext cx="3657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CONDITIONAL-SET-ASSIGNMENT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Conditional set ID (vi64),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Algorithm ID (vi64),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Throughput threshold (vi64),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throughput fraction (vi64),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Activate switching (vi64),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rank (8)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RANGE_FILTER_CONDITION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ID (8),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Conditional set ID (vi64)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4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09160" y="34015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config shared with Sender-Side Track Switching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721608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8680" y="370332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relay implementation handles conditional filtering + SSTS</a:t>
            </a:r>
            <a:endParaRPr lang="en-US" sz="11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6908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" y="405079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SSTS algorithms available to intra-track filtering automatically</a:t>
            </a:r>
            <a:endParaRPr lang="en-US" sz="11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416552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439826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 binding: 8-bit SetID + one varint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029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draft-yuyou-conditional-filtering · MOQ · IETF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7818120" y="488289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2A5A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62636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1945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51560" y="4754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 Negotiation &amp; Gap Signaling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02920" y="128016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12A5A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544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20299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 Option 0x09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85800" y="230428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RANGE_FILTER_CONDITION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85800" y="267004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support; value = highest Algorithm ID the endpoint can evaluate.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227832" y="128016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10712" y="1463040"/>
            <a:ext cx="457200" cy="457200"/>
          </a:xfrm>
          <a:prstGeom prst="ellipse">
            <a:avLst/>
          </a:prstGeom>
          <a:solidFill>
            <a:srgbClr val="F2A33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15544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10712" y="20299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 Option 0x0A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410712" y="230428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MAX_CONDITIONAL_FILTERS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3410712" y="267004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filter limit; default 0 → peers must opt in. Exceeding ⇒ REQUEST_ERROR / INVALID_FILTER.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952744" y="128016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88900" dist="25400" dir="5400000">
              <a:srgbClr val="0B1F3A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35624" y="1463040"/>
            <a:ext cx="457200" cy="457200"/>
          </a:xfrm>
          <a:prstGeom prst="ellipse">
            <a:avLst/>
          </a:prstGeom>
          <a:solidFill>
            <a:srgbClr val="E4573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4" y="15544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35624" y="20299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Property 0x3F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135624" y="230428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PRIOR_SUBGROUP_ID_GAP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135624" y="267004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subgroups skipped by conditional filtering — distinct from network loss.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02920" y="36576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RANGE_FILTER_CONDITION also requires MAX_FILTER_RANGES &gt; 0 (base MOQT) so the referenced SetIDs can exist. Peers that don't support the option ignore it per MOQT §10.3.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029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draft-yuyou-conditional-filtering · MOQ · IETF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7818120" y="488289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463040"/>
            <a:ext cx="3840480" cy="3840480"/>
          </a:xfrm>
          <a:prstGeom prst="ellipse">
            <a:avLst/>
          </a:prstGeom>
          <a:solidFill>
            <a:srgbClr val="12A5A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657600"/>
            <a:ext cx="3108960" cy="3108960"/>
          </a:xfrm>
          <a:prstGeom prst="ellipse">
            <a:avLst/>
          </a:prstGeom>
          <a:solidFill>
            <a:srgbClr val="2E6BA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583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2A5A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7635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438912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DD6D0"/>
                </a:solidFill>
              </a:rPr>
              <a:t>SUMMARY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325880" y="694944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 &amp; Next Steps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777240" y="1417320"/>
            <a:ext cx="3840480" cy="1261872"/>
          </a:xfrm>
          <a:prstGeom prst="roundRect">
            <a:avLst>
              <a:gd name="adj" fmla="val 5072"/>
            </a:avLst>
          </a:prstGeom>
          <a:solidFill>
            <a:srgbClr val="132E52"/>
          </a:solidFill>
          <a:ln w="12700">
            <a:solidFill>
              <a:srgbClr val="2E6BA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0120" y="1645920"/>
            <a:ext cx="420624" cy="420624"/>
          </a:xfrm>
          <a:prstGeom prst="ellipse">
            <a:avLst/>
          </a:prstGeom>
          <a:solidFill>
            <a:srgbClr val="12A5A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172821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154533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Additive extension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508760" y="1874520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RANGE_FILTER_CONDITION binds conditions to SetIDs without changing MOQT Range Filter semantics.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846320" y="1417320"/>
            <a:ext cx="3840480" cy="1261872"/>
          </a:xfrm>
          <a:prstGeom prst="roundRect">
            <a:avLst>
              <a:gd name="adj" fmla="val 5072"/>
            </a:avLst>
          </a:prstGeom>
          <a:solidFill>
            <a:srgbClr val="132E52"/>
          </a:solidFill>
          <a:ln w="12700">
            <a:solidFill>
              <a:srgbClr val="2E6BA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29200" y="1645920"/>
            <a:ext cx="420624" cy="420624"/>
          </a:xfrm>
          <a:prstGeom prst="ellipse">
            <a:avLst/>
          </a:prstGeom>
          <a:solidFill>
            <a:srgbClr val="12A5A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96" y="172821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77840" y="154533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Relay-side adaptation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577840" y="1874520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admission at Group boundaries — no round-trip signaling, no stale filters.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77240" y="2834640"/>
            <a:ext cx="3840480" cy="1261872"/>
          </a:xfrm>
          <a:prstGeom prst="roundRect">
            <a:avLst>
              <a:gd name="adj" fmla="val 5072"/>
            </a:avLst>
          </a:prstGeom>
          <a:solidFill>
            <a:srgbClr val="132E52"/>
          </a:solidFill>
          <a:ln w="12700">
            <a:solidFill>
              <a:srgbClr val="2E6BA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60120" y="3063240"/>
            <a:ext cx="420624" cy="420624"/>
          </a:xfrm>
          <a:prstGeom prst="ellipse">
            <a:avLst/>
          </a:prstGeom>
          <a:solidFill>
            <a:srgbClr val="12A5A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3145536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296265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0 + extensible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508760" y="3291840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Throughput-based allocation with rank-ordered, monotonic admission; registry open to future algorithms.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846320" y="2834640"/>
            <a:ext cx="3840480" cy="1261872"/>
          </a:xfrm>
          <a:prstGeom prst="roundRect">
            <a:avLst>
              <a:gd name="adj" fmla="val 5072"/>
            </a:avLst>
          </a:prstGeom>
          <a:solidFill>
            <a:srgbClr val="132E52"/>
          </a:solidFill>
          <a:ln w="12700">
            <a:solidFill>
              <a:srgbClr val="2E6BA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029200" y="3063240"/>
            <a:ext cx="420624" cy="420624"/>
          </a:xfrm>
          <a:prstGeom prst="ellipse">
            <a:avLst/>
          </a:prstGeom>
          <a:solidFill>
            <a:srgbClr val="12A5A0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496" y="3145536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577840" y="296265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Negotiated &amp; safe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577840" y="3291840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Options 0x09 / 0x0A gate usage; PRIOR_SUBGROUP_ID_GAP makes omissions explicit.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777240" y="4370832"/>
            <a:ext cx="82296" cy="502920"/>
          </a:xfrm>
          <a:prstGeom prst="rect">
            <a:avLst/>
          </a:prstGeom>
          <a:solidFill>
            <a:srgbClr val="12A5A0"/>
          </a:solidFill>
          <a:ln/>
        </p:spPr>
      </p:sp>
      <p:sp>
        <p:nvSpPr>
          <p:cNvPr id="29" name="Text 22"/>
          <p:cNvSpPr/>
          <p:nvPr/>
        </p:nvSpPr>
        <p:spPr>
          <a:xfrm>
            <a:off x="1005840" y="43891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welcome → </a:t>
            </a:r>
            <a:pPr indent="0" marL="0">
              <a:buNone/>
            </a:pPr>
            <a:r>
              <a:rPr lang="en-US" sz="1150" dirty="0">
                <a:solidFill>
                  <a:srgbClr val="3D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draft-yuyou-conditional-filtering · github.com/yuyou/conditional_filtering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Range Filters for Media over QUIC Transport</dc:title>
  <dc:subject>PptxGenJS Presentation</dc:subject>
  <dc:creator>Yu You</dc:creator>
  <cp:lastModifiedBy>Yu You</cp:lastModifiedBy>
  <cp:revision>1</cp:revision>
  <dcterms:created xsi:type="dcterms:W3CDTF">2026-08-10T17:43:09Z</dcterms:created>
  <dcterms:modified xsi:type="dcterms:W3CDTF">2026-08-10T17:43:09Z</dcterms:modified>
</cp:coreProperties>
</file>